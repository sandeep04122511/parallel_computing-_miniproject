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257" r:id="rId5"/>
    <p:sldId id="267" r:id="rId6"/>
    <p:sldId id="272" r:id="rId7"/>
    <p:sldId id="273" r:id="rId8"/>
    <p:sldId id="274" r:id="rId9"/>
    <p:sldId id="275" r:id="rId10"/>
    <p:sldId id="276" r:id="rId11"/>
    <p:sldId id="277" r:id="rId12"/>
    <p:sldId id="279" r:id="rId13"/>
    <p:sldId id="280" r:id="rId14"/>
    <p:sldId id="278" r:id="rId15"/>
    <p:sldId id="281" r:id="rId16"/>
    <p:sldId id="282" r:id="rId17"/>
    <p:sldId id="283" r:id="rId18"/>
    <p:sldId id="284"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2" d="100"/>
          <a:sy n="82" d="100"/>
        </p:scale>
        <p:origin x="720" y="77"/>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10/7/2025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10/7/2025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10/7/2025</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10/7/2025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10/7/2025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10/7/2025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10/7/2025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10/7/2025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10/7/2025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10/7/2025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10/7/2025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10/7/2025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10/7/2025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10/7/2025</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p14:dur="100">
        <p:cut/>
      </p:transition>
    </mc:Choice>
    <mc:Fallback>
      <p:transition>
        <p:cut/>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nothings/stb"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5940" y="23529"/>
            <a:ext cx="8735325" cy="2000251"/>
          </a:xfrm>
        </p:spPr>
        <p:txBody>
          <a:bodyPr>
            <a:normAutofit fontScale="90000"/>
          </a:bodyPr>
          <a:lstStyle/>
          <a:p>
            <a:pPr algn="ctr"/>
            <a:r>
              <a:rPr lang="en-US" dirty="0"/>
              <a:t>Parallel Image Processing using OpenMP and Multitasking</a:t>
            </a:r>
          </a:p>
        </p:txBody>
      </p:sp>
      <p:sp>
        <p:nvSpPr>
          <p:cNvPr id="5" name="Subtitle 4"/>
          <p:cNvSpPr>
            <a:spLocks noGrp="1"/>
          </p:cNvSpPr>
          <p:nvPr>
            <p:ph type="subTitle" idx="1"/>
          </p:nvPr>
        </p:nvSpPr>
        <p:spPr>
          <a:xfrm>
            <a:off x="1864095" y="2348880"/>
            <a:ext cx="8735325" cy="1752600"/>
          </a:xfrm>
        </p:spPr>
        <p:txBody>
          <a:bodyPr/>
          <a:lstStyle/>
          <a:p>
            <a:pPr algn="ctr"/>
            <a:r>
              <a:rPr lang="en-US" dirty="0"/>
              <a:t>Mini project</a:t>
            </a:r>
          </a:p>
          <a:p>
            <a:endParaRPr lang="en-US" dirty="0"/>
          </a:p>
          <a:p>
            <a:r>
              <a:rPr lang="en-US" dirty="0"/>
              <a:t>Subject : parallel programming(bcs702)</a:t>
            </a:r>
          </a:p>
          <a:p>
            <a:pPr algn="ctr"/>
            <a:endParaRPr lang="en-US" dirty="0"/>
          </a:p>
        </p:txBody>
      </p:sp>
      <p:sp>
        <p:nvSpPr>
          <p:cNvPr id="3" name="TextBox 2">
            <a:extLst>
              <a:ext uri="{FF2B5EF4-FFF2-40B4-BE49-F238E27FC236}">
                <a16:creationId xmlns:a16="http://schemas.microsoft.com/office/drawing/2014/main" id="{91AA780B-C7BB-3728-91C7-6CB2EBEB3B4F}"/>
              </a:ext>
            </a:extLst>
          </p:cNvPr>
          <p:cNvSpPr txBox="1"/>
          <p:nvPr/>
        </p:nvSpPr>
        <p:spPr>
          <a:xfrm>
            <a:off x="1197868" y="3861048"/>
            <a:ext cx="3096344" cy="1631216"/>
          </a:xfrm>
          <a:prstGeom prst="rect">
            <a:avLst/>
          </a:prstGeom>
          <a:noFill/>
        </p:spPr>
        <p:txBody>
          <a:bodyPr wrap="square" rtlCol="0">
            <a:spAutoFit/>
          </a:bodyPr>
          <a:lstStyle/>
          <a:p>
            <a:pPr algn="ctr"/>
            <a:r>
              <a:rPr lang="en-US" sz="2000" dirty="0"/>
              <a:t>Team members</a:t>
            </a:r>
          </a:p>
          <a:p>
            <a:r>
              <a:rPr lang="en-IN" sz="2000" dirty="0"/>
              <a:t>Sandeep S K     4JD22CS092</a:t>
            </a:r>
          </a:p>
          <a:p>
            <a:r>
              <a:rPr lang="en-IN" sz="2000" dirty="0"/>
              <a:t>Niranjan R M   4JD22CS077</a:t>
            </a:r>
          </a:p>
          <a:p>
            <a:r>
              <a:rPr lang="en-IN" sz="2000" dirty="0"/>
              <a:t>Sanjay G M      4JD22CS095</a:t>
            </a:r>
          </a:p>
          <a:p>
            <a:r>
              <a:rPr lang="en-IN" sz="2000" dirty="0"/>
              <a:t>Veeresh G S     4JD22CS118</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0607D6-9250-975D-4884-6FE3A6456DF2}"/>
              </a:ext>
            </a:extLst>
          </p:cNvPr>
          <p:cNvSpPr txBox="1"/>
          <p:nvPr/>
        </p:nvSpPr>
        <p:spPr>
          <a:xfrm>
            <a:off x="1269876" y="332656"/>
            <a:ext cx="9937104" cy="830997"/>
          </a:xfrm>
          <a:prstGeom prst="rect">
            <a:avLst/>
          </a:prstGeom>
          <a:noFill/>
        </p:spPr>
        <p:txBody>
          <a:bodyPr wrap="square" rtlCol="0">
            <a:spAutoFit/>
          </a:bodyPr>
          <a:lstStyle/>
          <a:p>
            <a:r>
              <a:rPr lang="en-US" sz="4800" dirty="0"/>
              <a:t>Introduction</a:t>
            </a:r>
            <a:endParaRPr lang="en-IN" sz="4800" dirty="0"/>
          </a:p>
        </p:txBody>
      </p:sp>
      <p:sp>
        <p:nvSpPr>
          <p:cNvPr id="5" name="TextBox 4">
            <a:extLst>
              <a:ext uri="{FF2B5EF4-FFF2-40B4-BE49-F238E27FC236}">
                <a16:creationId xmlns:a16="http://schemas.microsoft.com/office/drawing/2014/main" id="{C17E1D68-50C2-015D-1D82-E1FB5316B239}"/>
              </a:ext>
            </a:extLst>
          </p:cNvPr>
          <p:cNvSpPr txBox="1"/>
          <p:nvPr/>
        </p:nvSpPr>
        <p:spPr>
          <a:xfrm>
            <a:off x="1053852" y="1262365"/>
            <a:ext cx="10729192" cy="5262979"/>
          </a:xfrm>
          <a:prstGeom prst="rect">
            <a:avLst/>
          </a:prstGeom>
          <a:noFill/>
        </p:spPr>
        <p:txBody>
          <a:bodyPr wrap="square" rtlCol="0">
            <a:spAutoFit/>
          </a:bodyPr>
          <a:lstStyle/>
          <a:p>
            <a:pPr marL="457200" indent="-457200">
              <a:buFont typeface="Arial" panose="020B0604020202020204" pitchFamily="34" charset="0"/>
              <a:buChar char="•"/>
            </a:pPr>
            <a:r>
              <a:rPr lang="en-US" sz="2800" dirty="0"/>
              <a:t>Image processing involves performing operations on images to enhance or extract useful information.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Tasks like grayscale conversion, color inversion, and blurring can be computationally intensive.</a:t>
            </a:r>
            <a:endParaRPr lang="en-IN" sz="2800" dirty="0"/>
          </a:p>
          <a:p>
            <a:pPr marL="457200" indent="-457200">
              <a:buFont typeface="Arial" panose="020B0604020202020204" pitchFamily="34" charset="0"/>
              <a:buChar char="•"/>
            </a:pPr>
            <a:endParaRPr lang="en-IN" sz="2800" dirty="0"/>
          </a:p>
          <a:p>
            <a:pPr marL="457200" indent="-457200">
              <a:buFont typeface="Arial" panose="020B0604020202020204" pitchFamily="34" charset="0"/>
              <a:buChar char="•"/>
            </a:pPr>
            <a:r>
              <a:rPr lang="en-US" sz="2800" dirty="0"/>
              <a:t>Parallel programming allows multiple tasks to run </a:t>
            </a:r>
            <a:r>
              <a:rPr lang="en-US" sz="2800" b="1" dirty="0"/>
              <a:t>simultaneously</a:t>
            </a:r>
            <a:r>
              <a:rPr lang="en-US" sz="2800" dirty="0"/>
              <a:t> on multi-core processors, reducing total processing time.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In this project, we use </a:t>
            </a:r>
            <a:r>
              <a:rPr lang="en-US" sz="2800" b="1" dirty="0"/>
              <a:t>POSIX threads (</a:t>
            </a:r>
            <a:r>
              <a:rPr lang="en-US" sz="2800" b="1" dirty="0" err="1"/>
              <a:t>pthreads</a:t>
            </a:r>
            <a:r>
              <a:rPr lang="en-US" sz="2800" b="1" dirty="0"/>
              <a:t>)</a:t>
            </a:r>
            <a:r>
              <a:rPr lang="en-US" sz="2800" dirty="0"/>
              <a:t> to apply multiple image filters in parallel.</a:t>
            </a:r>
          </a:p>
          <a:p>
            <a:endParaRPr lang="en-US" sz="2800" dirty="0"/>
          </a:p>
        </p:txBody>
      </p:sp>
    </p:spTree>
    <p:extLst>
      <p:ext uri="{BB962C8B-B14F-4D97-AF65-F5344CB8AC3E}">
        <p14:creationId xmlns:p14="http://schemas.microsoft.com/office/powerpoint/2010/main" val="14848117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AB4B-FE88-A364-5F23-14B5F3A9A9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611287-94D1-76C9-5F99-C9BAA5A90AF4}"/>
              </a:ext>
            </a:extLst>
          </p:cNvPr>
          <p:cNvSpPr txBox="1"/>
          <p:nvPr/>
        </p:nvSpPr>
        <p:spPr>
          <a:xfrm>
            <a:off x="1125860" y="404664"/>
            <a:ext cx="6192688" cy="830997"/>
          </a:xfrm>
          <a:prstGeom prst="rect">
            <a:avLst/>
          </a:prstGeom>
          <a:noFill/>
        </p:spPr>
        <p:txBody>
          <a:bodyPr wrap="square" rtlCol="0">
            <a:spAutoFit/>
          </a:bodyPr>
          <a:lstStyle/>
          <a:p>
            <a:r>
              <a:rPr lang="en-US" sz="4800" dirty="0"/>
              <a:t>Objective</a:t>
            </a:r>
            <a:endParaRPr lang="en-IN" sz="4800" dirty="0"/>
          </a:p>
        </p:txBody>
      </p:sp>
      <p:sp>
        <p:nvSpPr>
          <p:cNvPr id="3" name="TextBox 2">
            <a:extLst>
              <a:ext uri="{FF2B5EF4-FFF2-40B4-BE49-F238E27FC236}">
                <a16:creationId xmlns:a16="http://schemas.microsoft.com/office/drawing/2014/main" id="{A17FA9BC-E358-8D7A-0AD0-C697AE74500B}"/>
              </a:ext>
            </a:extLst>
          </p:cNvPr>
          <p:cNvSpPr txBox="1"/>
          <p:nvPr/>
        </p:nvSpPr>
        <p:spPr>
          <a:xfrm>
            <a:off x="1161864" y="1484784"/>
            <a:ext cx="9865096" cy="3539430"/>
          </a:xfrm>
          <a:prstGeom prst="rect">
            <a:avLst/>
          </a:prstGeom>
          <a:noFill/>
        </p:spPr>
        <p:txBody>
          <a:bodyPr wrap="square" rtlCol="0">
            <a:spAutoFit/>
          </a:bodyPr>
          <a:lstStyle/>
          <a:p>
            <a:pPr algn="just"/>
            <a:r>
              <a:rPr lang="en-US" sz="2800" dirty="0"/>
              <a:t>	This project demonstrates how parallel processing can be achieved using the </a:t>
            </a:r>
            <a:r>
              <a:rPr lang="en-US" sz="2800" dirty="0" err="1"/>
              <a:t>pthreads</a:t>
            </a:r>
            <a:r>
              <a:rPr lang="en-US" sz="2800" dirty="0"/>
              <a:t> library in C. It applies multiple image filters—Grayscale, Invert, and Blur—at the same time by running each filter in a separate thread. This allows all filters to work together efficiently, using multiple CPU cores. The project also compares the execution time of each filter to show how parallelism improves the performance and speed of image processing tasks.</a:t>
            </a:r>
            <a:endParaRPr lang="en-IN" sz="2800" dirty="0"/>
          </a:p>
        </p:txBody>
      </p:sp>
    </p:spTree>
    <p:extLst>
      <p:ext uri="{BB962C8B-B14F-4D97-AF65-F5344CB8AC3E}">
        <p14:creationId xmlns:p14="http://schemas.microsoft.com/office/powerpoint/2010/main" val="23133075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1907-8E16-896F-0A70-3A7EEA0A1D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C04042-9327-A33E-D8E2-EC4801FAFC78}"/>
              </a:ext>
            </a:extLst>
          </p:cNvPr>
          <p:cNvSpPr txBox="1"/>
          <p:nvPr/>
        </p:nvSpPr>
        <p:spPr>
          <a:xfrm>
            <a:off x="909836" y="476672"/>
            <a:ext cx="3816424" cy="830997"/>
          </a:xfrm>
          <a:prstGeom prst="rect">
            <a:avLst/>
          </a:prstGeom>
          <a:noFill/>
        </p:spPr>
        <p:txBody>
          <a:bodyPr wrap="square" rtlCol="0">
            <a:spAutoFit/>
          </a:bodyPr>
          <a:lstStyle/>
          <a:p>
            <a:r>
              <a:rPr lang="en-US" sz="4800" dirty="0"/>
              <a:t>Methodology</a:t>
            </a:r>
            <a:endParaRPr lang="en-IN" sz="4800" dirty="0"/>
          </a:p>
        </p:txBody>
      </p:sp>
      <p:sp>
        <p:nvSpPr>
          <p:cNvPr id="3" name="TextBox 2">
            <a:extLst>
              <a:ext uri="{FF2B5EF4-FFF2-40B4-BE49-F238E27FC236}">
                <a16:creationId xmlns:a16="http://schemas.microsoft.com/office/drawing/2014/main" id="{584D8590-69FB-2C49-AA50-8B64E7994C6C}"/>
              </a:ext>
            </a:extLst>
          </p:cNvPr>
          <p:cNvSpPr txBox="1"/>
          <p:nvPr/>
        </p:nvSpPr>
        <p:spPr>
          <a:xfrm>
            <a:off x="981844" y="1484784"/>
            <a:ext cx="9577064" cy="3970318"/>
          </a:xfrm>
          <a:prstGeom prst="rect">
            <a:avLst/>
          </a:prstGeom>
          <a:noFill/>
        </p:spPr>
        <p:txBody>
          <a:bodyPr wrap="square" rtlCol="0">
            <a:spAutoFit/>
          </a:bodyPr>
          <a:lstStyle/>
          <a:p>
            <a:pPr marL="457200" indent="-457200">
              <a:buFont typeface="Arial" panose="020B0604020202020204" pitchFamily="34" charset="0"/>
              <a:buChar char="•"/>
            </a:pPr>
            <a:r>
              <a:rPr lang="en-IN" sz="2800" b="1" u="sng" dirty="0"/>
              <a:t>Parallel Programming:</a:t>
            </a:r>
          </a:p>
          <a:p>
            <a:r>
              <a:rPr lang="en-IN" sz="2800" dirty="0"/>
              <a:t>	-</a:t>
            </a:r>
            <a:r>
              <a:rPr lang="en-US" sz="2800" dirty="0"/>
              <a:t>Executing multiple independent tasks concurrently.</a:t>
            </a:r>
          </a:p>
          <a:p>
            <a:endParaRPr lang="en-US" sz="2800" dirty="0"/>
          </a:p>
          <a:p>
            <a:pPr marL="457200" indent="-457200">
              <a:buFont typeface="Arial" panose="020B0604020202020204" pitchFamily="34" charset="0"/>
              <a:buChar char="•"/>
            </a:pPr>
            <a:r>
              <a:rPr lang="en-IN" sz="2800" b="1" u="sng" dirty="0"/>
              <a:t>Multithreading (</a:t>
            </a:r>
            <a:r>
              <a:rPr lang="en-IN" sz="2800" b="1" u="sng" dirty="0" err="1"/>
              <a:t>pthreads</a:t>
            </a:r>
            <a:r>
              <a:rPr lang="en-IN" sz="2800" b="1" u="sng" dirty="0"/>
              <a:t>):</a:t>
            </a:r>
          </a:p>
          <a:p>
            <a:r>
              <a:rPr lang="en-IN" sz="2800" dirty="0"/>
              <a:t>	-</a:t>
            </a:r>
            <a:r>
              <a:rPr lang="en-US" sz="2800" dirty="0"/>
              <a:t>Lightweight threads sharing the same memory space.</a:t>
            </a:r>
          </a:p>
          <a:p>
            <a:endParaRPr lang="en-US" sz="2800" dirty="0"/>
          </a:p>
          <a:p>
            <a:pPr marL="457200" indent="-457200">
              <a:buFont typeface="Arial" panose="020B0604020202020204" pitchFamily="34" charset="0"/>
              <a:buChar char="•"/>
            </a:pPr>
            <a:r>
              <a:rPr lang="en-IN" sz="2800" b="1" u="sng" dirty="0"/>
              <a:t>STB Image Libraries:</a:t>
            </a:r>
          </a:p>
          <a:p>
            <a:r>
              <a:rPr lang="en-IN" sz="2800" dirty="0"/>
              <a:t>	-</a:t>
            </a:r>
            <a:r>
              <a:rPr lang="en-US" dirty="0" err="1"/>
              <a:t>stb_image.h</a:t>
            </a:r>
            <a:r>
              <a:rPr lang="en-US" sz="2800" dirty="0"/>
              <a:t> → For reading image files.</a:t>
            </a:r>
            <a:endParaRPr lang="en-IN" sz="2800" dirty="0"/>
          </a:p>
          <a:p>
            <a:r>
              <a:rPr lang="en-IN" sz="2800" dirty="0"/>
              <a:t>	-</a:t>
            </a:r>
            <a:r>
              <a:rPr lang="en-US" sz="2800" dirty="0" err="1"/>
              <a:t>stb_image_write.h</a:t>
            </a:r>
            <a:r>
              <a:rPr lang="en-US" sz="2800" dirty="0"/>
              <a:t> → For saving processed images.</a:t>
            </a:r>
            <a:endParaRPr lang="en-IN" sz="2800" dirty="0"/>
          </a:p>
        </p:txBody>
      </p:sp>
    </p:spTree>
    <p:extLst>
      <p:ext uri="{BB962C8B-B14F-4D97-AF65-F5344CB8AC3E}">
        <p14:creationId xmlns:p14="http://schemas.microsoft.com/office/powerpoint/2010/main" val="2906373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4B73A-6480-2890-434D-08AA7D8134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31FC0E-34CB-81BB-2211-A90D764C9160}"/>
              </a:ext>
            </a:extLst>
          </p:cNvPr>
          <p:cNvSpPr txBox="1"/>
          <p:nvPr/>
        </p:nvSpPr>
        <p:spPr>
          <a:xfrm>
            <a:off x="1197868" y="476672"/>
            <a:ext cx="5832648" cy="830997"/>
          </a:xfrm>
          <a:prstGeom prst="rect">
            <a:avLst/>
          </a:prstGeom>
          <a:noFill/>
        </p:spPr>
        <p:txBody>
          <a:bodyPr wrap="square" rtlCol="0">
            <a:spAutoFit/>
          </a:bodyPr>
          <a:lstStyle/>
          <a:p>
            <a:r>
              <a:rPr lang="en-US" sz="4800" dirty="0"/>
              <a:t>System </a:t>
            </a:r>
            <a:r>
              <a:rPr lang="en-IN" sz="4800" dirty="0"/>
              <a:t>Requirements</a:t>
            </a:r>
            <a:r>
              <a:rPr lang="en-US" sz="4800" dirty="0"/>
              <a:t> </a:t>
            </a:r>
            <a:endParaRPr lang="en-IN" sz="4800" dirty="0"/>
          </a:p>
        </p:txBody>
      </p:sp>
      <p:sp>
        <p:nvSpPr>
          <p:cNvPr id="3" name="TextBox 2">
            <a:extLst>
              <a:ext uri="{FF2B5EF4-FFF2-40B4-BE49-F238E27FC236}">
                <a16:creationId xmlns:a16="http://schemas.microsoft.com/office/drawing/2014/main" id="{402AF6C3-E5D1-E0C4-3951-0A5FDECBA5AC}"/>
              </a:ext>
            </a:extLst>
          </p:cNvPr>
          <p:cNvSpPr txBox="1"/>
          <p:nvPr/>
        </p:nvSpPr>
        <p:spPr>
          <a:xfrm>
            <a:off x="1197868" y="1484784"/>
            <a:ext cx="10441160" cy="523220"/>
          </a:xfrm>
          <a:prstGeom prst="rect">
            <a:avLst/>
          </a:prstGeom>
          <a:noFill/>
        </p:spPr>
        <p:txBody>
          <a:bodyPr wrap="square" rtlCol="0">
            <a:spAutoFit/>
          </a:bodyPr>
          <a:lstStyle/>
          <a:p>
            <a:pPr marL="514350" indent="-514350">
              <a:buFont typeface="+mj-lt"/>
              <a:buAutoNum type="arabicPeriod"/>
            </a:pPr>
            <a:r>
              <a:rPr lang="en-IN" sz="2800" u="sng" dirty="0"/>
              <a:t>Hardware Requirements :</a:t>
            </a:r>
          </a:p>
        </p:txBody>
      </p:sp>
      <p:sp>
        <p:nvSpPr>
          <p:cNvPr id="4" name="TextBox 3">
            <a:extLst>
              <a:ext uri="{FF2B5EF4-FFF2-40B4-BE49-F238E27FC236}">
                <a16:creationId xmlns:a16="http://schemas.microsoft.com/office/drawing/2014/main" id="{EB2E694F-5C0A-499C-F063-D79390A19024}"/>
              </a:ext>
            </a:extLst>
          </p:cNvPr>
          <p:cNvSpPr txBox="1"/>
          <p:nvPr/>
        </p:nvSpPr>
        <p:spPr>
          <a:xfrm>
            <a:off x="1845940" y="2185119"/>
            <a:ext cx="6840760" cy="954107"/>
          </a:xfrm>
          <a:prstGeom prst="rect">
            <a:avLst/>
          </a:prstGeom>
          <a:noFill/>
        </p:spPr>
        <p:txBody>
          <a:bodyPr wrap="square" rtlCol="0">
            <a:spAutoFit/>
          </a:bodyPr>
          <a:lstStyle/>
          <a:p>
            <a:pPr marL="457200" indent="-457200">
              <a:buFont typeface="Arial" panose="020B0604020202020204" pitchFamily="34" charset="0"/>
              <a:buChar char="•"/>
            </a:pPr>
            <a:r>
              <a:rPr lang="en-IN" sz="2800" dirty="0"/>
              <a:t>Multi-core CPU (recommended: 2+ cores)</a:t>
            </a:r>
          </a:p>
          <a:p>
            <a:pPr marL="457200" indent="-457200">
              <a:buFont typeface="Arial" panose="020B0604020202020204" pitchFamily="34" charset="0"/>
              <a:buChar char="•"/>
            </a:pPr>
            <a:r>
              <a:rPr lang="en-IN" sz="2800" dirty="0"/>
              <a:t>Minimum 4 GB RAM</a:t>
            </a:r>
          </a:p>
        </p:txBody>
      </p:sp>
      <p:sp>
        <p:nvSpPr>
          <p:cNvPr id="6" name="TextBox 5">
            <a:extLst>
              <a:ext uri="{FF2B5EF4-FFF2-40B4-BE49-F238E27FC236}">
                <a16:creationId xmlns:a16="http://schemas.microsoft.com/office/drawing/2014/main" id="{B8E778A9-CDAD-516B-D10F-DD36CEFD5AC8}"/>
              </a:ext>
            </a:extLst>
          </p:cNvPr>
          <p:cNvSpPr txBox="1"/>
          <p:nvPr/>
        </p:nvSpPr>
        <p:spPr>
          <a:xfrm>
            <a:off x="1197868" y="3645024"/>
            <a:ext cx="7920880" cy="523220"/>
          </a:xfrm>
          <a:prstGeom prst="rect">
            <a:avLst/>
          </a:prstGeom>
          <a:noFill/>
        </p:spPr>
        <p:txBody>
          <a:bodyPr wrap="square" rtlCol="0">
            <a:spAutoFit/>
          </a:bodyPr>
          <a:lstStyle/>
          <a:p>
            <a:r>
              <a:rPr lang="en-US" sz="2800" dirty="0"/>
              <a:t>2.    </a:t>
            </a:r>
            <a:r>
              <a:rPr lang="en-IN" sz="2800" u="sng" dirty="0"/>
              <a:t>Software</a:t>
            </a:r>
            <a:r>
              <a:rPr lang="en-IN" sz="2800" dirty="0"/>
              <a:t> </a:t>
            </a:r>
            <a:r>
              <a:rPr lang="en-IN" sz="2800" u="sng" dirty="0"/>
              <a:t>Requirements:</a:t>
            </a:r>
            <a:r>
              <a:rPr lang="en-IN" sz="2800" dirty="0"/>
              <a:t> </a:t>
            </a:r>
          </a:p>
        </p:txBody>
      </p:sp>
      <p:sp>
        <p:nvSpPr>
          <p:cNvPr id="7" name="TextBox 6">
            <a:extLst>
              <a:ext uri="{FF2B5EF4-FFF2-40B4-BE49-F238E27FC236}">
                <a16:creationId xmlns:a16="http://schemas.microsoft.com/office/drawing/2014/main" id="{2C66A6DF-92B5-4CC6-849B-DEEA4F15650B}"/>
              </a:ext>
            </a:extLst>
          </p:cNvPr>
          <p:cNvSpPr txBox="1"/>
          <p:nvPr/>
        </p:nvSpPr>
        <p:spPr>
          <a:xfrm>
            <a:off x="1485900" y="4509120"/>
            <a:ext cx="6984776"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Ubuntu (via WSL on Windows)</a:t>
            </a:r>
          </a:p>
          <a:p>
            <a:pPr marL="457200" indent="-457200">
              <a:buFont typeface="Arial" panose="020B0604020202020204" pitchFamily="34" charset="0"/>
              <a:buChar char="•"/>
            </a:pPr>
            <a:r>
              <a:rPr lang="en-IN" sz="2800" dirty="0"/>
              <a:t>GCC Compiler</a:t>
            </a:r>
          </a:p>
          <a:p>
            <a:pPr marL="457200" indent="-457200">
              <a:buFont typeface="Arial" panose="020B0604020202020204" pitchFamily="34" charset="0"/>
              <a:buChar char="•"/>
            </a:pPr>
            <a:r>
              <a:rPr lang="en-IN" sz="2800" dirty="0"/>
              <a:t>STB image libraries</a:t>
            </a:r>
          </a:p>
        </p:txBody>
      </p:sp>
      <p:sp>
        <p:nvSpPr>
          <p:cNvPr id="9" name="Rectangle 3">
            <a:extLst>
              <a:ext uri="{FF2B5EF4-FFF2-40B4-BE49-F238E27FC236}">
                <a16:creationId xmlns:a16="http://schemas.microsoft.com/office/drawing/2014/main" id="{5707530A-F4C3-2DC5-6D5C-DF7067AA6576}"/>
              </a:ext>
            </a:extLst>
          </p:cNvPr>
          <p:cNvSpPr>
            <a:spLocks noChangeArrowheads="1"/>
          </p:cNvSpPr>
          <p:nvPr/>
        </p:nvSpPr>
        <p:spPr bwMode="auto">
          <a:xfrm>
            <a:off x="0" y="0"/>
            <a:ext cx="12188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GCC Compiler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85729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14931-3225-D02C-B828-27F28E08E7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D3CE37-6709-F102-09C9-95AFDB74BEBB}"/>
              </a:ext>
            </a:extLst>
          </p:cNvPr>
          <p:cNvSpPr txBox="1"/>
          <p:nvPr/>
        </p:nvSpPr>
        <p:spPr>
          <a:xfrm>
            <a:off x="1341884" y="332655"/>
            <a:ext cx="9937104" cy="830997"/>
          </a:xfrm>
          <a:prstGeom prst="rect">
            <a:avLst/>
          </a:prstGeom>
          <a:noFill/>
        </p:spPr>
        <p:txBody>
          <a:bodyPr wrap="square" rtlCol="0">
            <a:spAutoFit/>
          </a:bodyPr>
          <a:lstStyle/>
          <a:p>
            <a:r>
              <a:rPr lang="en-IN" sz="4800" dirty="0"/>
              <a:t>Algorithm</a:t>
            </a:r>
          </a:p>
        </p:txBody>
      </p:sp>
      <p:sp>
        <p:nvSpPr>
          <p:cNvPr id="3" name="TextBox 2">
            <a:extLst>
              <a:ext uri="{FF2B5EF4-FFF2-40B4-BE49-F238E27FC236}">
                <a16:creationId xmlns:a16="http://schemas.microsoft.com/office/drawing/2014/main" id="{CEED2466-8DCD-AE95-8A89-666A5FEBD878}"/>
              </a:ext>
            </a:extLst>
          </p:cNvPr>
          <p:cNvSpPr txBox="1"/>
          <p:nvPr/>
        </p:nvSpPr>
        <p:spPr>
          <a:xfrm>
            <a:off x="1125860" y="1340768"/>
            <a:ext cx="10657184" cy="4401205"/>
          </a:xfrm>
          <a:prstGeom prst="rect">
            <a:avLst/>
          </a:prstGeom>
          <a:noFill/>
        </p:spPr>
        <p:txBody>
          <a:bodyPr wrap="square" rtlCol="0">
            <a:spAutoFit/>
          </a:bodyPr>
          <a:lstStyle/>
          <a:p>
            <a:pPr marL="514350" indent="-514350">
              <a:buAutoNum type="arabicPeriod"/>
            </a:pPr>
            <a:r>
              <a:rPr lang="en-US" sz="2800" dirty="0"/>
              <a:t>Load the input image using </a:t>
            </a:r>
            <a:r>
              <a:rPr lang="en-US" dirty="0" err="1"/>
              <a:t>stbi_load</a:t>
            </a:r>
            <a:r>
              <a:rPr lang="en-US" dirty="0"/>
              <a:t>()</a:t>
            </a:r>
            <a:r>
              <a:rPr lang="en-US" sz="2800" dirty="0"/>
              <a:t>.</a:t>
            </a:r>
          </a:p>
          <a:p>
            <a:pPr marL="514350" indent="-514350">
              <a:buAutoNum type="arabicPeriod"/>
            </a:pPr>
            <a:r>
              <a:rPr lang="en-IN" sz="2800" dirty="0"/>
              <a:t>Create three threads:</a:t>
            </a:r>
          </a:p>
          <a:p>
            <a:r>
              <a:rPr lang="en-IN" sz="2800" dirty="0"/>
              <a:t>	-</a:t>
            </a:r>
            <a:r>
              <a:rPr lang="en-US" sz="2800" dirty="0"/>
              <a:t> Thread 1 → Apply Grayscale filter.</a:t>
            </a:r>
            <a:endParaRPr lang="en-IN" sz="2800" dirty="0"/>
          </a:p>
          <a:p>
            <a:r>
              <a:rPr lang="en-IN" sz="2800" dirty="0"/>
              <a:t>	- Thread 2 </a:t>
            </a:r>
            <a:r>
              <a:rPr lang="en-US" sz="2800" dirty="0"/>
              <a:t>→Apply Invert Filter.</a:t>
            </a:r>
            <a:endParaRPr lang="en-IN" sz="2800" dirty="0"/>
          </a:p>
          <a:p>
            <a:r>
              <a:rPr lang="en-IN" sz="2800" dirty="0"/>
              <a:t>	- Thread 3 </a:t>
            </a:r>
            <a:r>
              <a:rPr lang="en-US" sz="2800" dirty="0"/>
              <a:t>→ Apply Blur Filter.</a:t>
            </a:r>
          </a:p>
          <a:p>
            <a:r>
              <a:rPr lang="en-US" sz="2800" dirty="0"/>
              <a:t>3. </a:t>
            </a:r>
            <a:r>
              <a:rPr lang="en-IN" sz="2800" dirty="0"/>
              <a:t>Each thread:</a:t>
            </a:r>
          </a:p>
          <a:p>
            <a:r>
              <a:rPr lang="en-IN" sz="2800" dirty="0"/>
              <a:t>	- Processes image pixels independently.</a:t>
            </a:r>
          </a:p>
          <a:p>
            <a:r>
              <a:rPr lang="en-IN" sz="2800" dirty="0"/>
              <a:t>	-</a:t>
            </a:r>
            <a:r>
              <a:rPr lang="en-US" sz="2800" dirty="0"/>
              <a:t> Saves the result as a new output image.</a:t>
            </a:r>
          </a:p>
          <a:p>
            <a:r>
              <a:rPr lang="en-US" sz="2800" dirty="0"/>
              <a:t>4. Wait for all threads to finish (</a:t>
            </a:r>
            <a:r>
              <a:rPr lang="en-US" dirty="0" err="1"/>
              <a:t>pthread_join</a:t>
            </a:r>
            <a:r>
              <a:rPr lang="en-US" sz="2800" dirty="0"/>
              <a:t>).</a:t>
            </a:r>
          </a:p>
          <a:p>
            <a:r>
              <a:rPr lang="en-US" sz="2800" dirty="0"/>
              <a:t>5. Display total time and CPU usage statistics.</a:t>
            </a:r>
            <a:endParaRPr lang="en-IN" sz="2800" dirty="0"/>
          </a:p>
        </p:txBody>
      </p:sp>
    </p:spTree>
    <p:extLst>
      <p:ext uri="{BB962C8B-B14F-4D97-AF65-F5344CB8AC3E}">
        <p14:creationId xmlns:p14="http://schemas.microsoft.com/office/powerpoint/2010/main" val="20213440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3B06-A167-133C-1F3D-A988841151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72F0EE-B8B1-7C3D-1BAB-B89A109955AD}"/>
              </a:ext>
            </a:extLst>
          </p:cNvPr>
          <p:cNvSpPr txBox="1"/>
          <p:nvPr/>
        </p:nvSpPr>
        <p:spPr>
          <a:xfrm>
            <a:off x="981844" y="332656"/>
            <a:ext cx="3168352" cy="830997"/>
          </a:xfrm>
          <a:prstGeom prst="rect">
            <a:avLst/>
          </a:prstGeom>
          <a:noFill/>
        </p:spPr>
        <p:txBody>
          <a:bodyPr wrap="square" rtlCol="0">
            <a:spAutoFit/>
          </a:bodyPr>
          <a:lstStyle/>
          <a:p>
            <a:r>
              <a:rPr lang="en-US" sz="4800" dirty="0"/>
              <a:t>Flowchart</a:t>
            </a:r>
            <a:endParaRPr lang="en-IN" sz="4800" dirty="0"/>
          </a:p>
        </p:txBody>
      </p:sp>
      <p:pic>
        <p:nvPicPr>
          <p:cNvPr id="4" name="Picture 3">
            <a:extLst>
              <a:ext uri="{FF2B5EF4-FFF2-40B4-BE49-F238E27FC236}">
                <a16:creationId xmlns:a16="http://schemas.microsoft.com/office/drawing/2014/main" id="{903C67A0-E93B-BA3B-0F94-587201012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6220" y="1268760"/>
            <a:ext cx="3937880" cy="5157192"/>
          </a:xfrm>
          <a:prstGeom prst="rect">
            <a:avLst/>
          </a:prstGeom>
        </p:spPr>
      </p:pic>
    </p:spTree>
    <p:extLst>
      <p:ext uri="{BB962C8B-B14F-4D97-AF65-F5344CB8AC3E}">
        <p14:creationId xmlns:p14="http://schemas.microsoft.com/office/powerpoint/2010/main" val="1914786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B1DFE-EFF8-149C-C983-59CF966644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1F6143-F852-9FDF-A2A8-015B72C91CF4}"/>
              </a:ext>
            </a:extLst>
          </p:cNvPr>
          <p:cNvSpPr txBox="1"/>
          <p:nvPr/>
        </p:nvSpPr>
        <p:spPr>
          <a:xfrm>
            <a:off x="1341884" y="404664"/>
            <a:ext cx="4608512" cy="830997"/>
          </a:xfrm>
          <a:prstGeom prst="rect">
            <a:avLst/>
          </a:prstGeom>
          <a:noFill/>
        </p:spPr>
        <p:txBody>
          <a:bodyPr wrap="square" rtlCol="0">
            <a:spAutoFit/>
          </a:bodyPr>
          <a:lstStyle/>
          <a:p>
            <a:r>
              <a:rPr lang="en-US" sz="4800" dirty="0"/>
              <a:t>Implementation</a:t>
            </a:r>
            <a:endParaRPr lang="en-IN" sz="4800" dirty="0"/>
          </a:p>
        </p:txBody>
      </p:sp>
      <p:sp>
        <p:nvSpPr>
          <p:cNvPr id="3" name="TextBox 2">
            <a:extLst>
              <a:ext uri="{FF2B5EF4-FFF2-40B4-BE49-F238E27FC236}">
                <a16:creationId xmlns:a16="http://schemas.microsoft.com/office/drawing/2014/main" id="{71158507-4150-FCCF-FAAE-9EF6EFAA46CB}"/>
              </a:ext>
            </a:extLst>
          </p:cNvPr>
          <p:cNvSpPr txBox="1"/>
          <p:nvPr/>
        </p:nvSpPr>
        <p:spPr>
          <a:xfrm>
            <a:off x="1053852" y="1412776"/>
            <a:ext cx="10081120" cy="4977838"/>
          </a:xfrm>
          <a:prstGeom prst="rect">
            <a:avLst/>
          </a:prstGeom>
          <a:noFill/>
        </p:spPr>
        <p:txBody>
          <a:bodyPr wrap="square" rtlCol="0">
            <a:spAutoFit/>
          </a:bodyPr>
          <a:lstStyle/>
          <a:p>
            <a:pPr marL="457200" indent="-457200">
              <a:buFont typeface="Arial" panose="020B0604020202020204" pitchFamily="34" charset="0"/>
              <a:buChar char="•"/>
            </a:pPr>
            <a:r>
              <a:rPr lang="en-US" sz="2800" dirty="0"/>
              <a:t>Initially we need to install all the </a:t>
            </a:r>
            <a:r>
              <a:rPr lang="en-IN" sz="2800" dirty="0"/>
              <a:t>Requirements</a:t>
            </a:r>
          </a:p>
          <a:p>
            <a:pPr>
              <a:lnSpc>
                <a:spcPct val="150000"/>
              </a:lnSpc>
            </a:pPr>
            <a:r>
              <a:rPr lang="en-IN" sz="2800" dirty="0"/>
              <a:t>	- GCC compiler</a:t>
            </a:r>
          </a:p>
          <a:p>
            <a:pPr>
              <a:lnSpc>
                <a:spcPct val="150000"/>
              </a:lnSpc>
            </a:pPr>
            <a:r>
              <a:rPr lang="en-IN" sz="2800" dirty="0"/>
              <a:t>	-</a:t>
            </a:r>
            <a:r>
              <a:rPr lang="en-US" sz="2800" b="1" dirty="0"/>
              <a:t> </a:t>
            </a:r>
            <a:r>
              <a:rPr lang="en-US" sz="2800" b="1" dirty="0" err="1"/>
              <a:t>pthreads</a:t>
            </a:r>
            <a:r>
              <a:rPr lang="en-US" sz="2800" dirty="0"/>
              <a:t> (already available on Linux/macOS; use WSL or 		    MinGW on Windows)</a:t>
            </a:r>
          </a:p>
          <a:p>
            <a:pPr>
              <a:lnSpc>
                <a:spcPct val="150000"/>
              </a:lnSpc>
            </a:pPr>
            <a:r>
              <a:rPr lang="en-US" sz="2800" dirty="0"/>
              <a:t>	- Two </a:t>
            </a:r>
            <a:r>
              <a:rPr lang="en-US" sz="2800" b="1" dirty="0"/>
              <a:t>single-header libraries</a:t>
            </a:r>
            <a:r>
              <a:rPr lang="en-US" sz="2800" dirty="0"/>
              <a:t> from </a:t>
            </a:r>
            <a:r>
              <a:rPr lang="en-US" sz="2800" dirty="0" err="1">
                <a:hlinkClick r:id="rId2"/>
              </a:rPr>
              <a:t>stb</a:t>
            </a:r>
            <a:r>
              <a:rPr lang="en-US" sz="2800" dirty="0"/>
              <a:t>:</a:t>
            </a:r>
          </a:p>
          <a:p>
            <a:pPr>
              <a:lnSpc>
                <a:spcPct val="150000"/>
              </a:lnSpc>
            </a:pPr>
            <a:r>
              <a:rPr lang="en-IN" sz="2800" dirty="0"/>
              <a:t>		 </a:t>
            </a:r>
            <a:r>
              <a:rPr lang="en-IN" sz="2800" dirty="0" err="1"/>
              <a:t>stb_image.h</a:t>
            </a:r>
            <a:endParaRPr lang="en-IN" sz="2800" dirty="0"/>
          </a:p>
          <a:p>
            <a:pPr>
              <a:lnSpc>
                <a:spcPct val="150000"/>
              </a:lnSpc>
            </a:pPr>
            <a:r>
              <a:rPr lang="en-IN" sz="2800" dirty="0"/>
              <a:t>		 </a:t>
            </a:r>
            <a:r>
              <a:rPr lang="en-IN" sz="2800" dirty="0" err="1"/>
              <a:t>stb_image_write.h</a:t>
            </a:r>
            <a:endParaRPr lang="en-IN" sz="2800" dirty="0"/>
          </a:p>
          <a:p>
            <a:pPr>
              <a:lnSpc>
                <a:spcPct val="150000"/>
              </a:lnSpc>
            </a:pPr>
            <a:r>
              <a:rPr lang="en-IN" sz="2800" dirty="0"/>
              <a:t>	</a:t>
            </a:r>
            <a:r>
              <a:rPr lang="en-US" sz="2800" dirty="0"/>
              <a:t>👉 Place both files in the same directory as your </a:t>
            </a:r>
            <a:r>
              <a:rPr lang="en-US" dirty="0"/>
              <a:t>.c</a:t>
            </a:r>
            <a:r>
              <a:rPr lang="en-US" sz="2800" dirty="0"/>
              <a:t> file.</a:t>
            </a:r>
            <a:endParaRPr lang="en-IN" sz="2800" dirty="0"/>
          </a:p>
        </p:txBody>
      </p:sp>
    </p:spTree>
    <p:extLst>
      <p:ext uri="{BB962C8B-B14F-4D97-AF65-F5344CB8AC3E}">
        <p14:creationId xmlns:p14="http://schemas.microsoft.com/office/powerpoint/2010/main" val="2929433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F473-1709-D9CF-AA8C-A68CCE02B8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72F4D8-3054-033A-3F05-3CBFE0EEE2F3}"/>
              </a:ext>
            </a:extLst>
          </p:cNvPr>
          <p:cNvSpPr txBox="1"/>
          <p:nvPr/>
        </p:nvSpPr>
        <p:spPr>
          <a:xfrm>
            <a:off x="1269876" y="620688"/>
            <a:ext cx="10297144" cy="1815882"/>
          </a:xfrm>
          <a:prstGeom prst="rect">
            <a:avLst/>
          </a:prstGeom>
          <a:noFill/>
        </p:spPr>
        <p:txBody>
          <a:bodyPr wrap="square" rtlCol="0">
            <a:spAutoFit/>
          </a:bodyPr>
          <a:lstStyle/>
          <a:p>
            <a:pPr marL="457200" indent="-457200">
              <a:buFont typeface="Arial" panose="020B0604020202020204" pitchFamily="34" charset="0"/>
              <a:buChar char="•"/>
            </a:pPr>
            <a:r>
              <a:rPr lang="en-US" sz="2800" dirty="0"/>
              <a:t>Commands to install the installers:</a:t>
            </a:r>
          </a:p>
          <a:p>
            <a:r>
              <a:rPr lang="en-US" sz="2800" dirty="0"/>
              <a:t>	- </a:t>
            </a:r>
            <a:r>
              <a:rPr lang="en-US" sz="2800" dirty="0" err="1"/>
              <a:t>wsl</a:t>
            </a:r>
            <a:r>
              <a:rPr lang="en-US" sz="2800" dirty="0"/>
              <a:t> –install</a:t>
            </a:r>
          </a:p>
          <a:p>
            <a:r>
              <a:rPr lang="en-US" sz="2800" dirty="0"/>
              <a:t>	-</a:t>
            </a:r>
            <a:r>
              <a:rPr lang="es-ES" sz="2800" dirty="0"/>
              <a:t> sudo </a:t>
            </a:r>
            <a:r>
              <a:rPr lang="es-ES" sz="2800" dirty="0" err="1"/>
              <a:t>apt</a:t>
            </a:r>
            <a:r>
              <a:rPr lang="es-ES" sz="2800" dirty="0"/>
              <a:t> </a:t>
            </a:r>
            <a:r>
              <a:rPr lang="es-ES" sz="2800" dirty="0" err="1"/>
              <a:t>update</a:t>
            </a:r>
            <a:r>
              <a:rPr lang="es-ES" sz="2800" dirty="0"/>
              <a:t> &amp;&amp; sudo </a:t>
            </a:r>
            <a:r>
              <a:rPr lang="es-ES" sz="2800" dirty="0" err="1"/>
              <a:t>apt</a:t>
            </a:r>
            <a:r>
              <a:rPr lang="es-ES" sz="2800" dirty="0"/>
              <a:t> </a:t>
            </a:r>
            <a:r>
              <a:rPr lang="es-ES" sz="2800" dirty="0" err="1"/>
              <a:t>upgrade</a:t>
            </a:r>
            <a:r>
              <a:rPr lang="es-ES" sz="2800" dirty="0"/>
              <a:t> –y</a:t>
            </a:r>
          </a:p>
          <a:p>
            <a:r>
              <a:rPr lang="es-ES" sz="2800" dirty="0"/>
              <a:t>	-</a:t>
            </a:r>
            <a:r>
              <a:rPr lang="en-US" sz="2800" dirty="0"/>
              <a:t> </a:t>
            </a:r>
            <a:r>
              <a:rPr lang="en-US" sz="2800" dirty="0" err="1"/>
              <a:t>sudo</a:t>
            </a:r>
            <a:r>
              <a:rPr lang="en-US" sz="2800" dirty="0"/>
              <a:t> apt install build-essential -y </a:t>
            </a:r>
            <a:endParaRPr lang="en-IN" sz="2800" dirty="0"/>
          </a:p>
        </p:txBody>
      </p:sp>
      <p:sp>
        <p:nvSpPr>
          <p:cNvPr id="3" name="TextBox 2">
            <a:extLst>
              <a:ext uri="{FF2B5EF4-FFF2-40B4-BE49-F238E27FC236}">
                <a16:creationId xmlns:a16="http://schemas.microsoft.com/office/drawing/2014/main" id="{6675DA39-6021-3C47-5275-76D73EDC3286}"/>
              </a:ext>
            </a:extLst>
          </p:cNvPr>
          <p:cNvSpPr txBox="1"/>
          <p:nvPr/>
        </p:nvSpPr>
        <p:spPr>
          <a:xfrm>
            <a:off x="1413892" y="2979305"/>
            <a:ext cx="7344816"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t>Link to Download the header files:</a:t>
            </a:r>
          </a:p>
          <a:p>
            <a:r>
              <a:rPr lang="en-US" sz="2800" dirty="0"/>
              <a:t>	- </a:t>
            </a:r>
            <a:r>
              <a:rPr lang="en-US" sz="2800" u="sng" dirty="0">
                <a:solidFill>
                  <a:srgbClr val="00B0F0"/>
                </a:solidFill>
              </a:rPr>
              <a:t>https://github.com/nothings/stb</a:t>
            </a:r>
            <a:endParaRPr lang="en-IN" sz="2800" u="sng" dirty="0">
              <a:solidFill>
                <a:srgbClr val="00B0F0"/>
              </a:solidFill>
            </a:endParaRPr>
          </a:p>
        </p:txBody>
      </p:sp>
    </p:spTree>
    <p:extLst>
      <p:ext uri="{BB962C8B-B14F-4D97-AF65-F5344CB8AC3E}">
        <p14:creationId xmlns:p14="http://schemas.microsoft.com/office/powerpoint/2010/main" val="164488996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8526-086B-6BE2-2B71-699EC63A1A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CE8409-02E1-875D-B87A-89341572EE58}"/>
              </a:ext>
            </a:extLst>
          </p:cNvPr>
          <p:cNvSpPr txBox="1"/>
          <p:nvPr/>
        </p:nvSpPr>
        <p:spPr>
          <a:xfrm>
            <a:off x="1701924" y="692696"/>
            <a:ext cx="8136904" cy="830997"/>
          </a:xfrm>
          <a:prstGeom prst="rect">
            <a:avLst/>
          </a:prstGeom>
          <a:noFill/>
        </p:spPr>
        <p:txBody>
          <a:bodyPr wrap="square" rtlCol="0">
            <a:spAutoFit/>
          </a:bodyPr>
          <a:lstStyle/>
          <a:p>
            <a:r>
              <a:rPr lang="en-US" sz="4800" dirty="0"/>
              <a:t>Execution:</a:t>
            </a:r>
            <a:endParaRPr lang="en-IN" sz="4800" dirty="0"/>
          </a:p>
        </p:txBody>
      </p:sp>
      <p:sp>
        <p:nvSpPr>
          <p:cNvPr id="3" name="TextBox 2">
            <a:extLst>
              <a:ext uri="{FF2B5EF4-FFF2-40B4-BE49-F238E27FC236}">
                <a16:creationId xmlns:a16="http://schemas.microsoft.com/office/drawing/2014/main" id="{F89C311B-6DD8-228F-150E-91D9421D7B35}"/>
              </a:ext>
            </a:extLst>
          </p:cNvPr>
          <p:cNvSpPr txBox="1"/>
          <p:nvPr/>
        </p:nvSpPr>
        <p:spPr>
          <a:xfrm>
            <a:off x="1557908" y="1628800"/>
            <a:ext cx="10009112"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Initially check all the files are present in same folder or not.</a:t>
            </a:r>
          </a:p>
          <a:p>
            <a:r>
              <a:rPr lang="en-US" sz="2800" dirty="0"/>
              <a:t>	 cd ~/</a:t>
            </a:r>
            <a:r>
              <a:rPr lang="en-US" sz="2800" dirty="0" err="1"/>
              <a:t>parallelI</a:t>
            </a:r>
            <a:endParaRPr lang="en-US" sz="2800" dirty="0"/>
          </a:p>
          <a:p>
            <a:pPr marL="457200" indent="-457200">
              <a:buFont typeface="Arial" panose="020B0604020202020204" pitchFamily="34" charset="0"/>
              <a:buChar char="•"/>
            </a:pPr>
            <a:r>
              <a:rPr lang="en-IN" sz="2800" dirty="0" err="1"/>
              <a:t>mkdir</a:t>
            </a:r>
            <a:r>
              <a:rPr lang="en-IN" sz="2800" dirty="0"/>
              <a:t> ~/</a:t>
            </a:r>
            <a:r>
              <a:rPr lang="en-IN" sz="2800" dirty="0" err="1"/>
              <a:t>ParallelImageProcessor</a:t>
            </a:r>
            <a:r>
              <a:rPr lang="en-IN" sz="2800" dirty="0"/>
              <a:t>   //make </a:t>
            </a:r>
            <a:r>
              <a:rPr lang="en-IN" sz="2800" dirty="0" err="1"/>
              <a:t>dir</a:t>
            </a:r>
            <a:r>
              <a:rPr lang="en-IN" sz="2800" dirty="0"/>
              <a:t> command </a:t>
            </a:r>
          </a:p>
          <a:p>
            <a:pPr marL="457200" indent="-457200">
              <a:buFont typeface="Arial" panose="020B0604020202020204" pitchFamily="34" charset="0"/>
              <a:buChar char="•"/>
            </a:pPr>
            <a:r>
              <a:rPr lang="en-IN" sz="2800" dirty="0"/>
              <a:t>cd ~/</a:t>
            </a:r>
            <a:r>
              <a:rPr lang="en-IN" sz="2800" dirty="0" err="1"/>
              <a:t>ParallelImageProcessor</a:t>
            </a:r>
            <a:r>
              <a:rPr lang="en-IN" sz="2800" dirty="0"/>
              <a:t>	    //change </a:t>
            </a:r>
            <a:r>
              <a:rPr lang="en-IN" sz="2800" dirty="0" err="1"/>
              <a:t>dir</a:t>
            </a:r>
            <a:r>
              <a:rPr lang="en-IN" sz="2800" dirty="0"/>
              <a:t> command </a:t>
            </a:r>
          </a:p>
          <a:p>
            <a:pPr marL="457200" indent="-457200">
              <a:buFont typeface="Arial" panose="020B0604020202020204" pitchFamily="34" charset="0"/>
              <a:buChar char="•"/>
            </a:pPr>
            <a:r>
              <a:rPr lang="en-IN" sz="2800" dirty="0"/>
              <a:t>Ls				   //list all the files</a:t>
            </a:r>
          </a:p>
          <a:p>
            <a:pPr marL="457200" indent="-457200">
              <a:buFont typeface="Arial" panose="020B0604020202020204" pitchFamily="34" charset="0"/>
              <a:buChar char="•"/>
            </a:pPr>
            <a:r>
              <a:rPr lang="en-IN" sz="2800" dirty="0" err="1"/>
              <a:t>gcc</a:t>
            </a:r>
            <a:r>
              <a:rPr lang="en-IN" sz="2800" dirty="0"/>
              <a:t> </a:t>
            </a:r>
            <a:r>
              <a:rPr lang="en-IN" sz="2800" dirty="0" err="1"/>
              <a:t>parallel_image_processor.c</a:t>
            </a:r>
            <a:r>
              <a:rPr lang="en-IN" sz="2800" dirty="0"/>
              <a:t> -</a:t>
            </a:r>
            <a:r>
              <a:rPr lang="en-IN" sz="2800" dirty="0" err="1"/>
              <a:t>lpthread</a:t>
            </a:r>
            <a:r>
              <a:rPr lang="en-IN" sz="2800" dirty="0"/>
              <a:t> -</a:t>
            </a:r>
            <a:r>
              <a:rPr lang="en-IN" sz="2800" dirty="0" err="1"/>
              <a:t>lm</a:t>
            </a:r>
            <a:r>
              <a:rPr lang="en-IN" sz="2800" dirty="0"/>
              <a:t> -o </a:t>
            </a:r>
            <a:r>
              <a:rPr lang="en-IN" sz="2800" dirty="0" err="1"/>
              <a:t>image_processor</a:t>
            </a:r>
            <a:endParaRPr lang="en-IN" sz="2800" dirty="0"/>
          </a:p>
          <a:p>
            <a:r>
              <a:rPr lang="en-IN" sz="2800" dirty="0"/>
              <a:t>		  		  //compilation command </a:t>
            </a:r>
          </a:p>
          <a:p>
            <a:pPr marL="457200" indent="-457200">
              <a:buFont typeface="Arial" panose="020B0604020202020204" pitchFamily="34" charset="0"/>
              <a:buChar char="•"/>
            </a:pPr>
            <a:r>
              <a:rPr lang="en-IN" sz="2800" dirty="0"/>
              <a:t> ./</a:t>
            </a:r>
            <a:r>
              <a:rPr lang="en-IN" sz="2800" dirty="0" err="1"/>
              <a:t>image_processor</a:t>
            </a:r>
            <a:r>
              <a:rPr lang="en-IN" sz="2800" dirty="0"/>
              <a:t>                        //Run command </a:t>
            </a:r>
          </a:p>
          <a:p>
            <a:endParaRPr lang="en-IN" sz="2800" dirty="0"/>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2032068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3E62-9130-4E9C-BF1F-B9A7412D0D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2F9435-0CF7-CA26-DDA5-68391B351272}"/>
              </a:ext>
            </a:extLst>
          </p:cNvPr>
          <p:cNvSpPr txBox="1"/>
          <p:nvPr/>
        </p:nvSpPr>
        <p:spPr>
          <a:xfrm>
            <a:off x="1125860" y="332656"/>
            <a:ext cx="3312368" cy="830997"/>
          </a:xfrm>
          <a:prstGeom prst="rect">
            <a:avLst/>
          </a:prstGeom>
          <a:noFill/>
        </p:spPr>
        <p:txBody>
          <a:bodyPr wrap="square" rtlCol="0">
            <a:spAutoFit/>
          </a:bodyPr>
          <a:lstStyle/>
          <a:p>
            <a:r>
              <a:rPr lang="en-US" sz="4800" dirty="0"/>
              <a:t>Results</a:t>
            </a:r>
            <a:endParaRPr lang="en-IN" sz="4800" dirty="0"/>
          </a:p>
        </p:txBody>
      </p:sp>
      <p:pic>
        <p:nvPicPr>
          <p:cNvPr id="11" name="Picture 10">
            <a:extLst>
              <a:ext uri="{FF2B5EF4-FFF2-40B4-BE49-F238E27FC236}">
                <a16:creationId xmlns:a16="http://schemas.microsoft.com/office/drawing/2014/main" id="{E5348011-83B6-42F2-B1DB-A96947A43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5171" y="980728"/>
            <a:ext cx="5058481" cy="1368152"/>
          </a:xfrm>
          <a:prstGeom prst="rect">
            <a:avLst/>
          </a:prstGeom>
        </p:spPr>
      </p:pic>
      <p:pic>
        <p:nvPicPr>
          <p:cNvPr id="13" name="Picture 12">
            <a:extLst>
              <a:ext uri="{FF2B5EF4-FFF2-40B4-BE49-F238E27FC236}">
                <a16:creationId xmlns:a16="http://schemas.microsoft.com/office/drawing/2014/main" id="{F3A51B29-90C2-C3E7-9D7E-DC6776194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6140" y="2575668"/>
            <a:ext cx="5087060" cy="1371791"/>
          </a:xfrm>
          <a:prstGeom prst="rect">
            <a:avLst/>
          </a:prstGeom>
        </p:spPr>
      </p:pic>
      <p:pic>
        <p:nvPicPr>
          <p:cNvPr id="15" name="Picture 14">
            <a:extLst>
              <a:ext uri="{FF2B5EF4-FFF2-40B4-BE49-F238E27FC236}">
                <a16:creationId xmlns:a16="http://schemas.microsoft.com/office/drawing/2014/main" id="{9E3DC5BC-BBA7-B87C-780B-41B293F476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3932" y="4326664"/>
            <a:ext cx="8398668" cy="2078786"/>
          </a:xfrm>
          <a:prstGeom prst="rect">
            <a:avLst/>
          </a:prstGeom>
        </p:spPr>
      </p:pic>
      <p:sp>
        <p:nvSpPr>
          <p:cNvPr id="16" name="TextBox 15">
            <a:extLst>
              <a:ext uri="{FF2B5EF4-FFF2-40B4-BE49-F238E27FC236}">
                <a16:creationId xmlns:a16="http://schemas.microsoft.com/office/drawing/2014/main" id="{36D9E186-CAC9-90E0-AE6D-7EB3D1B3266F}"/>
              </a:ext>
            </a:extLst>
          </p:cNvPr>
          <p:cNvSpPr txBox="1"/>
          <p:nvPr/>
        </p:nvSpPr>
        <p:spPr>
          <a:xfrm>
            <a:off x="5158308" y="1772816"/>
            <a:ext cx="4727020" cy="276999"/>
          </a:xfrm>
          <a:prstGeom prst="rect">
            <a:avLst/>
          </a:prstGeom>
          <a:noFill/>
        </p:spPr>
        <p:txBody>
          <a:bodyPr wrap="square" rtlCol="0">
            <a:spAutoFit/>
          </a:bodyPr>
          <a:lstStyle/>
          <a:p>
            <a:r>
              <a:rPr lang="en-US" sz="1200" dirty="0"/>
              <a:t>Fig 1.Showing user directory</a:t>
            </a:r>
            <a:endParaRPr lang="en-IN" sz="1200" dirty="0"/>
          </a:p>
        </p:txBody>
      </p:sp>
      <p:sp>
        <p:nvSpPr>
          <p:cNvPr id="17" name="TextBox 16">
            <a:extLst>
              <a:ext uri="{FF2B5EF4-FFF2-40B4-BE49-F238E27FC236}">
                <a16:creationId xmlns:a16="http://schemas.microsoft.com/office/drawing/2014/main" id="{BF906618-B605-DA72-328B-A6CF7109FA10}"/>
              </a:ext>
            </a:extLst>
          </p:cNvPr>
          <p:cNvSpPr txBox="1"/>
          <p:nvPr/>
        </p:nvSpPr>
        <p:spPr>
          <a:xfrm>
            <a:off x="4942284" y="3573016"/>
            <a:ext cx="3312368" cy="276999"/>
          </a:xfrm>
          <a:prstGeom prst="rect">
            <a:avLst/>
          </a:prstGeom>
          <a:noFill/>
        </p:spPr>
        <p:txBody>
          <a:bodyPr wrap="square" rtlCol="0">
            <a:spAutoFit/>
          </a:bodyPr>
          <a:lstStyle/>
          <a:p>
            <a:r>
              <a:rPr lang="en-US" sz="1200" dirty="0"/>
              <a:t>Fig 2. Changing directory to Project folder</a:t>
            </a:r>
            <a:endParaRPr lang="en-IN" sz="1200" dirty="0"/>
          </a:p>
        </p:txBody>
      </p:sp>
      <p:sp>
        <p:nvSpPr>
          <p:cNvPr id="18" name="TextBox 17">
            <a:extLst>
              <a:ext uri="{FF2B5EF4-FFF2-40B4-BE49-F238E27FC236}">
                <a16:creationId xmlns:a16="http://schemas.microsoft.com/office/drawing/2014/main" id="{543B0D6B-53B7-D825-1DA9-CD3AFFD9932C}"/>
              </a:ext>
            </a:extLst>
          </p:cNvPr>
          <p:cNvSpPr txBox="1"/>
          <p:nvPr/>
        </p:nvSpPr>
        <p:spPr>
          <a:xfrm>
            <a:off x="5130898" y="5964470"/>
            <a:ext cx="3600400" cy="276999"/>
          </a:xfrm>
          <a:prstGeom prst="rect">
            <a:avLst/>
          </a:prstGeom>
          <a:noFill/>
        </p:spPr>
        <p:txBody>
          <a:bodyPr wrap="square" rtlCol="0">
            <a:spAutoFit/>
          </a:bodyPr>
          <a:lstStyle/>
          <a:p>
            <a:r>
              <a:rPr lang="en-US" sz="1200" dirty="0"/>
              <a:t>Fig 3.listing all the files in the directory</a:t>
            </a:r>
            <a:endParaRPr lang="en-IN" sz="1200" dirty="0"/>
          </a:p>
        </p:txBody>
      </p:sp>
    </p:spTree>
    <p:extLst>
      <p:ext uri="{BB962C8B-B14F-4D97-AF65-F5344CB8AC3E}">
        <p14:creationId xmlns:p14="http://schemas.microsoft.com/office/powerpoint/2010/main" val="23714731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721E2-FC99-9AD4-7AB3-DDFAA574FD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1427AA-1987-940C-6293-4A81F31E0C80}"/>
              </a:ext>
            </a:extLst>
          </p:cNvPr>
          <p:cNvSpPr txBox="1"/>
          <p:nvPr/>
        </p:nvSpPr>
        <p:spPr>
          <a:xfrm>
            <a:off x="1125860" y="332656"/>
            <a:ext cx="3312368" cy="830997"/>
          </a:xfrm>
          <a:prstGeom prst="rect">
            <a:avLst/>
          </a:prstGeom>
          <a:noFill/>
        </p:spPr>
        <p:txBody>
          <a:bodyPr wrap="square" rtlCol="0">
            <a:spAutoFit/>
          </a:bodyPr>
          <a:lstStyle/>
          <a:p>
            <a:r>
              <a:rPr lang="en-US" sz="4800" dirty="0"/>
              <a:t>Results </a:t>
            </a:r>
            <a:endParaRPr lang="en-IN" sz="4800" dirty="0"/>
          </a:p>
        </p:txBody>
      </p:sp>
      <p:pic>
        <p:nvPicPr>
          <p:cNvPr id="4" name="Picture 3">
            <a:extLst>
              <a:ext uri="{FF2B5EF4-FFF2-40B4-BE49-F238E27FC236}">
                <a16:creationId xmlns:a16="http://schemas.microsoft.com/office/drawing/2014/main" id="{F97B8D50-7234-2654-694E-7C6A0CD37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1944" y="1149961"/>
            <a:ext cx="8424936" cy="1914521"/>
          </a:xfrm>
          <a:prstGeom prst="rect">
            <a:avLst/>
          </a:prstGeom>
        </p:spPr>
      </p:pic>
      <p:pic>
        <p:nvPicPr>
          <p:cNvPr id="6" name="Picture 5">
            <a:extLst>
              <a:ext uri="{FF2B5EF4-FFF2-40B4-BE49-F238E27FC236}">
                <a16:creationId xmlns:a16="http://schemas.microsoft.com/office/drawing/2014/main" id="{27096024-121A-5E75-8766-480037064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607" y="3645024"/>
            <a:ext cx="8424937" cy="1633744"/>
          </a:xfrm>
          <a:prstGeom prst="rect">
            <a:avLst/>
          </a:prstGeom>
        </p:spPr>
      </p:pic>
      <p:sp>
        <p:nvSpPr>
          <p:cNvPr id="7" name="TextBox 6">
            <a:extLst>
              <a:ext uri="{FF2B5EF4-FFF2-40B4-BE49-F238E27FC236}">
                <a16:creationId xmlns:a16="http://schemas.microsoft.com/office/drawing/2014/main" id="{997DC738-18F5-8BC2-3AA7-927DF8E03852}"/>
              </a:ext>
            </a:extLst>
          </p:cNvPr>
          <p:cNvSpPr txBox="1"/>
          <p:nvPr/>
        </p:nvSpPr>
        <p:spPr>
          <a:xfrm>
            <a:off x="5302324" y="2645706"/>
            <a:ext cx="4320480" cy="276999"/>
          </a:xfrm>
          <a:prstGeom prst="rect">
            <a:avLst/>
          </a:prstGeom>
          <a:noFill/>
        </p:spPr>
        <p:txBody>
          <a:bodyPr wrap="square" rtlCol="0">
            <a:spAutoFit/>
          </a:bodyPr>
          <a:lstStyle/>
          <a:p>
            <a:r>
              <a:rPr lang="en-US" sz="1200" dirty="0"/>
              <a:t>Fig 4.Compiltation of Code</a:t>
            </a:r>
            <a:endParaRPr lang="en-IN" sz="1200" dirty="0"/>
          </a:p>
        </p:txBody>
      </p:sp>
      <p:sp>
        <p:nvSpPr>
          <p:cNvPr id="8" name="TextBox 7">
            <a:extLst>
              <a:ext uri="{FF2B5EF4-FFF2-40B4-BE49-F238E27FC236}">
                <a16:creationId xmlns:a16="http://schemas.microsoft.com/office/drawing/2014/main" id="{8DA1E845-E200-D818-1F44-D9CC6433C787}"/>
              </a:ext>
            </a:extLst>
          </p:cNvPr>
          <p:cNvSpPr txBox="1"/>
          <p:nvPr/>
        </p:nvSpPr>
        <p:spPr>
          <a:xfrm>
            <a:off x="5806380" y="5052707"/>
            <a:ext cx="2376264" cy="276999"/>
          </a:xfrm>
          <a:prstGeom prst="rect">
            <a:avLst/>
          </a:prstGeom>
          <a:noFill/>
        </p:spPr>
        <p:txBody>
          <a:bodyPr wrap="square" rtlCol="0">
            <a:spAutoFit/>
          </a:bodyPr>
          <a:lstStyle/>
          <a:p>
            <a:r>
              <a:rPr lang="en-US" sz="1200" dirty="0"/>
              <a:t>Fig 5. Run Command </a:t>
            </a:r>
            <a:endParaRPr lang="en-IN" sz="1200" dirty="0"/>
          </a:p>
        </p:txBody>
      </p:sp>
    </p:spTree>
    <p:extLst>
      <p:ext uri="{BB962C8B-B14F-4D97-AF65-F5344CB8AC3E}">
        <p14:creationId xmlns:p14="http://schemas.microsoft.com/office/powerpoint/2010/main" val="27652561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20EED-46EA-2C6F-C204-A306573D4F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85C7D4-8FB5-EC44-28AA-4EADC8EE25A9}"/>
              </a:ext>
            </a:extLst>
          </p:cNvPr>
          <p:cNvSpPr txBox="1"/>
          <p:nvPr/>
        </p:nvSpPr>
        <p:spPr>
          <a:xfrm>
            <a:off x="1125860" y="332656"/>
            <a:ext cx="3312368" cy="830997"/>
          </a:xfrm>
          <a:prstGeom prst="rect">
            <a:avLst/>
          </a:prstGeom>
          <a:noFill/>
        </p:spPr>
        <p:txBody>
          <a:bodyPr wrap="square" rtlCol="0">
            <a:spAutoFit/>
          </a:bodyPr>
          <a:lstStyle/>
          <a:p>
            <a:r>
              <a:rPr lang="en-US" sz="4800" dirty="0"/>
              <a:t>Results</a:t>
            </a:r>
            <a:endParaRPr lang="en-IN" sz="4800" dirty="0"/>
          </a:p>
        </p:txBody>
      </p:sp>
      <p:pic>
        <p:nvPicPr>
          <p:cNvPr id="4" name="Picture 3">
            <a:extLst>
              <a:ext uri="{FF2B5EF4-FFF2-40B4-BE49-F238E27FC236}">
                <a16:creationId xmlns:a16="http://schemas.microsoft.com/office/drawing/2014/main" id="{58D73D65-7494-3032-6986-A2F13981EB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900" y="1412776"/>
            <a:ext cx="9838828" cy="4605073"/>
          </a:xfrm>
          <a:prstGeom prst="rect">
            <a:avLst/>
          </a:prstGeom>
        </p:spPr>
      </p:pic>
      <p:sp>
        <p:nvSpPr>
          <p:cNvPr id="5" name="TextBox 4">
            <a:extLst>
              <a:ext uri="{FF2B5EF4-FFF2-40B4-BE49-F238E27FC236}">
                <a16:creationId xmlns:a16="http://schemas.microsoft.com/office/drawing/2014/main" id="{C82B22AE-4BA0-CEC4-2562-54D268F1A494}"/>
              </a:ext>
            </a:extLst>
          </p:cNvPr>
          <p:cNvSpPr txBox="1"/>
          <p:nvPr/>
        </p:nvSpPr>
        <p:spPr>
          <a:xfrm>
            <a:off x="5590356" y="6113083"/>
            <a:ext cx="3240360" cy="307777"/>
          </a:xfrm>
          <a:prstGeom prst="rect">
            <a:avLst/>
          </a:prstGeom>
          <a:noFill/>
        </p:spPr>
        <p:txBody>
          <a:bodyPr wrap="square" rtlCol="0">
            <a:spAutoFit/>
          </a:bodyPr>
          <a:lstStyle/>
          <a:p>
            <a:r>
              <a:rPr lang="en-US" sz="1400" dirty="0"/>
              <a:t>Fig 6.Output of the code </a:t>
            </a:r>
            <a:endParaRPr lang="en-IN" sz="1400" dirty="0"/>
          </a:p>
        </p:txBody>
      </p:sp>
    </p:spTree>
    <p:extLst>
      <p:ext uri="{BB962C8B-B14F-4D97-AF65-F5344CB8AC3E}">
        <p14:creationId xmlns:p14="http://schemas.microsoft.com/office/powerpoint/2010/main" val="18380628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121F-94BF-4816-8594-448ACABEAD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2608C3-FD61-CBF2-E601-2685C6D46D42}"/>
              </a:ext>
            </a:extLst>
          </p:cNvPr>
          <p:cNvSpPr txBox="1"/>
          <p:nvPr/>
        </p:nvSpPr>
        <p:spPr>
          <a:xfrm>
            <a:off x="1269876" y="548680"/>
            <a:ext cx="3672408" cy="830997"/>
          </a:xfrm>
          <a:prstGeom prst="rect">
            <a:avLst/>
          </a:prstGeom>
          <a:noFill/>
        </p:spPr>
        <p:txBody>
          <a:bodyPr wrap="square" rtlCol="0">
            <a:spAutoFit/>
          </a:bodyPr>
          <a:lstStyle/>
          <a:p>
            <a:r>
              <a:rPr lang="en-US" sz="4800" dirty="0"/>
              <a:t>Conclusion</a:t>
            </a:r>
            <a:endParaRPr lang="en-IN" sz="4800" dirty="0"/>
          </a:p>
        </p:txBody>
      </p:sp>
      <p:sp>
        <p:nvSpPr>
          <p:cNvPr id="3" name="TextBox 2">
            <a:extLst>
              <a:ext uri="{FF2B5EF4-FFF2-40B4-BE49-F238E27FC236}">
                <a16:creationId xmlns:a16="http://schemas.microsoft.com/office/drawing/2014/main" id="{E3B36219-0D59-AAEB-5872-6FC534935F61}"/>
              </a:ext>
            </a:extLst>
          </p:cNvPr>
          <p:cNvSpPr txBox="1"/>
          <p:nvPr/>
        </p:nvSpPr>
        <p:spPr>
          <a:xfrm>
            <a:off x="1341884" y="1556792"/>
            <a:ext cx="10369152" cy="3970318"/>
          </a:xfrm>
          <a:prstGeom prst="rect">
            <a:avLst/>
          </a:prstGeom>
          <a:noFill/>
        </p:spPr>
        <p:txBody>
          <a:bodyPr wrap="square" rtlCol="0">
            <a:spAutoFit/>
          </a:bodyPr>
          <a:lstStyle/>
          <a:p>
            <a:pPr algn="just"/>
            <a:r>
              <a:rPr lang="en-US" sz="2800" dirty="0"/>
              <a:t>	The project successfully implements a Parallel Image Processor using the </a:t>
            </a:r>
            <a:r>
              <a:rPr lang="en-US" sz="2800" dirty="0" err="1"/>
              <a:t>pthreads</a:t>
            </a:r>
            <a:r>
              <a:rPr lang="en-US" sz="2800" dirty="0"/>
              <a:t> library in C, demonstrating significant performance improvements by processing multiple image filters concurrently. Through this implementation, the effectiveness of multithreading in handling computationally intensive image operations has been validated. The project emphasizes the practical application of parallel programming techniques in image analysis, highlighting how concurrent execution can enhance efficiency and reduce processing time in real-world scenarios.</a:t>
            </a:r>
            <a:endParaRPr lang="en-IN" sz="2800" dirty="0"/>
          </a:p>
        </p:txBody>
      </p:sp>
    </p:spTree>
    <p:extLst>
      <p:ext uri="{BB962C8B-B14F-4D97-AF65-F5344CB8AC3E}">
        <p14:creationId xmlns:p14="http://schemas.microsoft.com/office/powerpoint/2010/main" val="3606030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E2B17-978F-13EC-8A30-34D9CE1909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157CB6-E788-9350-1C40-3D38DDA0D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916" y="692696"/>
            <a:ext cx="9073008" cy="5184576"/>
          </a:xfrm>
          <a:prstGeom prst="rect">
            <a:avLst/>
          </a:prstGeom>
        </p:spPr>
      </p:pic>
    </p:spTree>
    <p:extLst>
      <p:ext uri="{BB962C8B-B14F-4D97-AF65-F5344CB8AC3E}">
        <p14:creationId xmlns:p14="http://schemas.microsoft.com/office/powerpoint/2010/main" val="42855734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76</TotalTime>
  <Words>689</Words>
  <Application>Microsoft Office PowerPoint</Application>
  <PresentationFormat>Custom</PresentationFormat>
  <Paragraphs>84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Tech 16x9</vt:lpstr>
      <vt:lpstr>Parallel Image Processing using OpenMP and Multitasking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S K</dc:creator>
  <cp:lastModifiedBy>Sandeep S K</cp:lastModifiedBy>
  <cp:revision>2</cp:revision>
  <dcterms:created xsi:type="dcterms:W3CDTF">2025-10-07T14:22:43Z</dcterms:created>
  <dcterms:modified xsi:type="dcterms:W3CDTF">2025-10-07T15:39:25Z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